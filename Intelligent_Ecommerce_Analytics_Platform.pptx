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Jan-17</c:v>
                  </c:pt>
                  <c:pt idx="1">
                    <c:v>Apr-17</c:v>
                  </c:pt>
                  <c:pt idx="2">
                    <c:v>Jul-17</c:v>
                  </c:pt>
                  <c:pt idx="3">
                    <c:v>Oct-17</c:v>
                  </c:pt>
                  <c:pt idx="4">
                    <c:v>Jan-18</c:v>
                  </c:pt>
                  <c:pt idx="5">
                    <c:v>Apr-18</c:v>
                  </c:pt>
                  <c:pt idx="6">
                    <c:v>Jul-18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0.128</c:v>
                </c:pt>
                <c:pt idx="1">
                  <c:v>0.391</c:v>
                </c:pt>
                <c:pt idx="2">
                  <c:v>0.566</c:v>
                </c:pt>
                <c:pt idx="3">
                  <c:v>0.751</c:v>
                </c:pt>
                <c:pt idx="4">
                  <c:v>1.079</c:v>
                </c:pt>
                <c:pt idx="5">
                  <c:v>1.133</c:v>
                </c:pt>
                <c:pt idx="6">
                  <c:v>1.028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Health &amp; Beauty</c:v>
                  </c:pt>
                  <c:pt idx="1">
                    <c:v>Watches &amp; Gifts</c:v>
                  </c:pt>
                  <c:pt idx="2">
                    <c:v>Bed Bath Table</c:v>
                  </c:pt>
                  <c:pt idx="3">
                    <c:v>Sports &amp; Leisure</c:v>
                  </c:pt>
                  <c:pt idx="4">
                    <c:v>Computers Access.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1.23</c:v>
                </c:pt>
                <c:pt idx="1">
                  <c:v>1.17</c:v>
                </c:pt>
                <c:pt idx="2">
                  <c:v>1.02</c:v>
                </c:pt>
                <c:pt idx="3">
                  <c:v>0.95</c:v>
                </c:pt>
                <c:pt idx="4">
                  <c:v>0.89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A4A9F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bubble3D val="0"/>
            <c:spPr>
              <a:solidFill>
                <a:srgbClr val="E8A33D"/>
              </a:solidFill>
              <a:effectLst/>
            </c:spPr>
          </c:dPt>
          <c:dPt>
            <c:idx val="4"/>
            <c:bubble3D val="0"/>
            <c:spPr>
              <a:solidFill>
                <a:srgbClr val="8FA8D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New Customers</c:v>
                </c:pt>
                <c:pt idx="1">
                  <c:v>Dormant</c:v>
                </c:pt>
                <c:pt idx="2">
                  <c:v>Regular</c:v>
                </c:pt>
                <c:pt idx="3">
                  <c:v>Bargain Hunters</c:v>
                </c:pt>
                <c:pt idx="4">
                  <c:v>Premium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48778</c:v>
                </c:pt>
                <c:pt idx="1">
                  <c:v>38978</c:v>
                </c:pt>
                <c:pt idx="2">
                  <c:v>2954</c:v>
                </c:pt>
                <c:pt idx="3">
                  <c:v>2735</c:v>
                </c:pt>
                <c:pt idx="4">
                  <c:v>2651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F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Logistic Reg.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Grad. Boosting</c:v>
                  </c:pt>
                  <c:pt idx="4">
                    <c:v>XGBoost</c:v>
                  </c:pt>
                  <c:pt idx="5">
                    <c:v>LightGBM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0.567</c:v>
                </c:pt>
                <c:pt idx="1">
                  <c:v>0.525</c:v>
                </c:pt>
                <c:pt idx="2">
                  <c:v>0.504</c:v>
                </c:pt>
                <c:pt idx="3">
                  <c:v>0.532</c:v>
                </c:pt>
                <c:pt idx="4">
                  <c:v>0.516</c:v>
                </c:pt>
                <c:pt idx="5">
                  <c:v>0.515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Linear Reg.</c:v>
                  </c:pt>
                  <c:pt idx="1">
                    <c:v>Random Forest</c:v>
                  </c:pt>
                  <c:pt idx="2">
                    <c:v>Grad. Boosting</c:v>
                  </c:pt>
                  <c:pt idx="3">
                    <c:v>XGBoost</c:v>
                  </c:pt>
                  <c:pt idx="4">
                    <c:v>LightGBM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-0.0036</c:v>
                </c:pt>
                <c:pt idx="1">
                  <c:v>-0.0026</c:v>
                </c:pt>
                <c:pt idx="2">
                  <c:v>0.0018</c:v>
                </c:pt>
                <c:pt idx="3">
                  <c:v>-0.001</c:v>
                </c:pt>
                <c:pt idx="4">
                  <c:v>-0.0035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mbria"/>
              </a:rPr>
              <a:t>Hit Rate @ K=5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 Rate @5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Content-Based</c:v>
                  </c:pt>
                  <c:pt idx="1">
                    <c:v>Item-based CF</c:v>
                  </c:pt>
                  <c:pt idx="2">
                    <c:v>Matrix Fact. (SVD)</c:v>
                  </c:pt>
                  <c:pt idx="3">
                    <c:v>Hybrid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0.129</c:v>
                </c:pt>
                <c:pt idx="1">
                  <c:v>0.946</c:v>
                </c:pt>
                <c:pt idx="2">
                  <c:v>0.782</c:v>
                </c:pt>
                <c:pt idx="3">
                  <c:v>0.954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114800" cy="41148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· CUSTOMER ANALYTICS · MACHINE LEARNING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E-Commerce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Analytics Platform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· Purchase Prediction · Customer Lifetime Value · Recommendations · Explainable 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Brazilian E-Commerce Public Dataset by Olist  ·  96,096 customers  ·  99,441 orders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Transactions to Business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e-commerce platforms generate enormous transactional data — but data alone doesn't drive growth. This project turns raw Olist marketplace data into a unified system that segments customers, predicts behavior, and recommends products, so marketing and business teams can act with confidence.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517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587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08152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customers by purchasing behavior for targeted campaigns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24231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26517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2587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Prediction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308152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likelihood of a repeat order in the next 90 days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0" y="24231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092440" y="26517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1080" y="2587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Lifetime Value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92440" y="308152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revenue expected from each customer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2976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233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72744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relevant products from purchase and category history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40690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434840" y="42976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83480" y="4233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Strategy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34840" y="472744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customers going dormant before they're lost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63840" y="40690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092440" y="42976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09244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41080" y="4233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Dashboard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92440" y="472744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decision-makers one interactive view of it all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Brazilian E-Commerce Public Dataset by Olist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interconnected tables spanning customers, orders, products, payments, reviews, and geography.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417320" cy="1417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58238"/>
            <a:ext cx="141732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96,096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611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86584" y="2103120"/>
            <a:ext cx="1417320" cy="1417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386584" y="2358238"/>
            <a:ext cx="141732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99,441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203704" y="3611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24528" y="2103120"/>
            <a:ext cx="1417320" cy="1417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2358238"/>
            <a:ext cx="141732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32,216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041648" y="3611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products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62472" y="2103120"/>
            <a:ext cx="1417320" cy="1417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062472" y="2358238"/>
            <a:ext cx="141732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R$ 15.4M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879592" y="3611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00416" y="2103120"/>
            <a:ext cx="1417320" cy="1417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900416" y="2358238"/>
            <a:ext cx="141732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17536" y="3611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states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738360" y="2103120"/>
            <a:ext cx="1417320" cy="1417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738360" y="2358238"/>
            <a:ext cx="141732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555480" y="36118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060704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Tables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20624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orders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58952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order_items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5303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order_payments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206240" y="5303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order_reviews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5303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2960" y="5715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sellers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206240" y="5715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geolocation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589520" y="5715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category_translation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11-Phase, Leakage-Safe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builds on the last — from raw CSVs to a deployed, explainable dashboard.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756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46888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82112" y="1965960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346704" y="20756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46704" y="246888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15584" y="1965960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980176" y="20756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80176" y="246888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49056" y="1965960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13648" y="20756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13648" y="246888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218688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EEF3FF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32841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" y="3721608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182112" y="3218688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EEF3FF"/>
          </a:solidFill>
          <a:ln/>
        </p:spPr>
      </p:sp>
      <p:sp>
        <p:nvSpPr>
          <p:cNvPr id="21" name="Text 19"/>
          <p:cNvSpPr/>
          <p:nvPr/>
        </p:nvSpPr>
        <p:spPr>
          <a:xfrm>
            <a:off x="3346704" y="332841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46704" y="3721608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Prediction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815584" y="3218688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EEF3FF"/>
          </a:solidFill>
          <a:ln/>
        </p:spPr>
      </p:sp>
      <p:sp>
        <p:nvSpPr>
          <p:cNvPr id="24" name="Text 22"/>
          <p:cNvSpPr/>
          <p:nvPr/>
        </p:nvSpPr>
        <p:spPr>
          <a:xfrm>
            <a:off x="5980176" y="332841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80176" y="3721608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Value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449056" y="3218688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EEF3FF"/>
          </a:solidFill>
          <a:ln/>
        </p:spPr>
      </p:sp>
      <p:sp>
        <p:nvSpPr>
          <p:cNvPr id="27" name="Text 25"/>
          <p:cNvSpPr/>
          <p:nvPr/>
        </p:nvSpPr>
        <p:spPr>
          <a:xfrm>
            <a:off x="8613648" y="332841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13648" y="3721608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471416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5811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3232" y="4974336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182112" y="4471416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3346704" y="45811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346704" y="4974336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815584" y="4471416"/>
            <a:ext cx="248716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5980176" y="45811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980176" y="4974336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1-2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Integration &amp; Cleaning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EEF3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Engineering Decision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Olist's customer_id is unique PER ORDER, not per person. The true, persistent identity across repeat purchases is customer_unique_id — every customer-level metric in this project is built on that field, not the naive one.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348386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35584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handled by context — median-impute experience metrics, explicit "unknown" for missing categoricals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405079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92277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 order_id / customer_unique_id rows after cleaning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461772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48970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flagged, not deleted — high spenders are signal, not noise, for a CLV project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518464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05663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timing features derived: delivery_days, delay vs. estimate, is_late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1508760"/>
            <a:ext cx="5212080" cy="102412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636776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99,441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75320" y="1636776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integrated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2679192"/>
            <a:ext cx="5212080" cy="102412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8072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96,096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275320" y="280720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 resolved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3849624"/>
            <a:ext cx="5212080" cy="102412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39776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275320" y="39776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keys remaining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0" y="5020056"/>
            <a:ext cx="5212080" cy="1024128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514807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75320" y="514807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flagged as spend outliers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Trend (R$ millions)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Categories by Revenue (R$ millions)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55080" y="1783080"/>
          <a:ext cx="5303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34340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EEF3FF"/>
          </a:solidFill>
          <a:ln/>
        </p:spPr>
      </p:sp>
      <p:sp>
        <p:nvSpPr>
          <p:cNvPr id="9" name="Shape 5"/>
          <p:cNvSpPr/>
          <p:nvPr/>
        </p:nvSpPr>
        <p:spPr>
          <a:xfrm>
            <a:off x="822960" y="4626864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1051560" y="44805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~8x from early 2017 to peak in Nov 2017 (Black Friday) and plateaued through 2018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0" y="4626864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6629400" y="44805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speed strongly drives satisfaction — review scores fall sharply as delivery delay increases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" y="5404104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0"/>
          <p:cNvSpPr/>
          <p:nvPr/>
        </p:nvSpPr>
        <p:spPr>
          <a:xfrm>
            <a:off x="1051560" y="52578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 concentrated in SP, RJ, MG — Brazil's most populous, highest-income states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0" y="5404104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2"/>
          <p:cNvSpPr/>
          <p:nvPr/>
        </p:nvSpPr>
        <p:spPr>
          <a:xfrm>
            <a:off x="6629400" y="52578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customer buys only once — the central business problem this platform addresses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model-ready features per customer, grouped into five business-meaningful families.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84832" cy="365760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335024" y="224028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1335024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RFM Core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Recency, Frequency, Monetary + quintile scores and a rule-based segment label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52344" y="1965960"/>
            <a:ext cx="2084832" cy="3657600"/>
          </a:xfrm>
          <a:prstGeom prst="roundRect">
            <a:avLst>
              <a:gd name="adj" fmla="val 3509"/>
            </a:avLst>
          </a:prstGeom>
          <a:solidFill>
            <a:srgbClr val="EEF3FF"/>
          </a:solidFill>
          <a:ln/>
        </p:spPr>
      </p:sp>
      <p:sp>
        <p:nvSpPr>
          <p:cNvPr id="11" name="Shape 9"/>
          <p:cNvSpPr/>
          <p:nvPr/>
        </p:nvSpPr>
        <p:spPr>
          <a:xfrm>
            <a:off x="3538728" y="22402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89504" y="29260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Cadence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35224" y="3520440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/ std days between orders, order frequency rate, tenure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56048" y="1965960"/>
            <a:ext cx="2084832" cy="3657600"/>
          </a:xfrm>
          <a:prstGeom prst="roundRect">
            <a:avLst>
              <a:gd name="adj" fmla="val 3509"/>
            </a:avLst>
          </a:prstGeom>
          <a:solidFill>
            <a:srgbClr val="EEF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742432" y="22402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742432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93208" y="29260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Behavior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38928" y="3520440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 category, category diversity, seller diversity, price sensitivity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59752" y="1965960"/>
            <a:ext cx="2084832" cy="3657600"/>
          </a:xfrm>
          <a:prstGeom prst="roundRect">
            <a:avLst>
              <a:gd name="adj" fmla="val 3509"/>
            </a:avLst>
          </a:prstGeom>
          <a:solidFill>
            <a:srgbClr val="EEF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946136" y="22402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946136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96912" y="29260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Signals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42632" y="3520440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sentiment (% low / high), avg delivery days, late-delivery rate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363456" y="1965960"/>
            <a:ext cx="2084832" cy="3657600"/>
          </a:xfrm>
          <a:prstGeom prst="roundRect">
            <a:avLst>
              <a:gd name="adj" fmla="val 3509"/>
            </a:avLst>
          </a:prstGeom>
          <a:solidFill>
            <a:srgbClr val="EEF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49840" y="22402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149840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500616" y="29260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546336" y="3520440"/>
            <a:ext cx="17190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states mapped to Brazil's 5 macro-regions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(k=5), validated by elbow method + silhouette score, visualized via PCA.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87452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212140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0.359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0" y="26700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01000" y="19659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was chosen for business interpretability over the pure silhouette-optimal k=2 ("everyone vs. whales"), which carries no actionable segmentation.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3474720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3337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monetary + frequency, low recency — priority for retention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0" y="4041648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39044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Bargain Hunters: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buyers, low order value — good upsell/bundle targets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460857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/>
          <p:nvPr/>
        </p:nvSpPr>
        <p:spPr>
          <a:xfrm>
            <a:off x="6629400" y="447141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time since last purchase — reactivation campaign targets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0" y="517550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4"/>
          <p:cNvSpPr/>
          <p:nvPr/>
        </p:nvSpPr>
        <p:spPr>
          <a:xfrm>
            <a:off x="6629400" y="503834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acquired, low tenure — nurture toward repeat purchase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CLASSIFICATION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Prediction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customer repurchases within 90 days — 6 models, leakage-safe temporal split.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 by Model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48840"/>
          <a:ext cx="56692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537960" y="1810512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681228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Finding, Not a Failure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12280" y="251460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0.7% of existing customers repurchase within any given 90-day window in this dataset — an extremely rare event. Every model lands near AUC 0.50-0.57, barely above random, because point-in-time RFM features alone can't pin down which specific window a rare repeat purchase falls into.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1228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to improve signal: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12280" y="4343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Widen the prediction window (e.g. 180 days)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812280" y="47274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seller- and category-level features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12280" y="51114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Tune decision threshold using PR-AUC, not accuracy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· REGRESSION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Lifetime Value Prediction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90-day forward spend per customer — 5 regression models, same temporal-cutoff design.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Score by Model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48840"/>
          <a:ext cx="56692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537960" y="1810512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681228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Root Cause as Phase 6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12280" y="251460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 of customers spend R$0 in the 90 days after any cutoff — the target is heavily zero-inflated. R² near zero reflects that reality, not a coding error: predicting a mostly-zero target is fundamentally different from predicting continuous revenue.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1228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fix would use: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12280" y="434340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two-stage model: classify "spends again", then regress the amount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812280" y="478231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longer forecast horizon (6-12 months)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12280" y="522122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Signals beyond transactions (marketing touches, browsing)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Recommendation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Content-based, item-based collaborative filtering, SVD matrix factorization, and a hybrid blend.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29400" y="1874520"/>
            <a:ext cx="5029200" cy="4297680"/>
          </a:xfrm>
          <a:prstGeom prst="roundRect">
            <a:avLst>
              <a:gd name="adj" fmla="val 1702"/>
            </a:avLst>
          </a:prstGeom>
          <a:solidFill>
            <a:srgbClr val="EEF3FF"/>
          </a:solidFill>
          <a:ln/>
        </p:spPr>
      </p:sp>
      <p:sp>
        <p:nvSpPr>
          <p:cNvPr id="7" name="Text 4"/>
          <p:cNvSpPr/>
          <p:nvPr/>
        </p:nvSpPr>
        <p:spPr>
          <a:xfrm>
            <a:off x="690372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Results Correctly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903720" y="260604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and Hybrid score ~95% Hit Rate — but only on the ~3% of customers with real repeat-category purchase history. Content-based scores lower (13%) alone, yet it's the only method that can serve the ~95% of customers who bought just once (true cold start).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03720" y="4114800"/>
            <a:ext cx="452628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0" y="42793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choice: Hybrid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0" y="46634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CF's accuracy where signal exists, and falls back gracefully to content-based for cold-start customers instead of returning nothing.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with SHAP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is auditable — not just a black-box score.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EEF3F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0756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this customer likely to purchase again?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417320" y="253288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plot decomposes one prediction into each feature's contribution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EEF3FF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930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features drive customer value most?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417320" y="395020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 plot ranks global feature importance across the whole model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EEF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983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9103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was this product recommended?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17320" y="536752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collaborative signals are traceable back to specific purchase history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196596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Drivers Identified by SHAP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29400" y="2743200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141A45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74320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78040" y="274320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(days since last purchase)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9400" y="3419856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141A45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41985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341985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frequency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0" y="4096512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141A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409651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09651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total spending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29400" y="4773168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141A45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477316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78040" y="47731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29400" y="5449824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141A45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544982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78040" y="54498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tenure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29400" y="619963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classic RFM theory: recent, frequent past behavior is the strongest available signal for future behavior.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10-11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Deployment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5-page interactive Streamlit application, ready to ship to Streamlit Community Cloud or AWS.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66544" cy="2286000"/>
          </a:xfrm>
          <a:prstGeom prst="roundRect">
            <a:avLst>
              <a:gd name="adj" fmla="val 354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756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17922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customers, orders, AOV at a glance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34056" y="1965960"/>
            <a:ext cx="2066544" cy="2286000"/>
          </a:xfrm>
          <a:prstGeom prst="roundRect">
            <a:avLst>
              <a:gd name="adj" fmla="val 3540"/>
            </a:avLst>
          </a:prstGeom>
          <a:solidFill>
            <a:srgbClr val="EEF3FF"/>
          </a:solidFill>
          <a:ln/>
        </p:spPr>
      </p:sp>
      <p:sp>
        <p:nvSpPr>
          <p:cNvPr id="10" name="Text 8"/>
          <p:cNvSpPr/>
          <p:nvPr/>
        </p:nvSpPr>
        <p:spPr>
          <a:xfrm>
            <a:off x="2871216" y="20756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71216" y="25603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Analytics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71216" y="3200400"/>
            <a:ext cx="17922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Segment, purchase probability, predicted CLV per customer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19472" y="1965960"/>
            <a:ext cx="2066544" cy="2286000"/>
          </a:xfrm>
          <a:prstGeom prst="roundRect">
            <a:avLst>
              <a:gd name="adj" fmla="val 3540"/>
            </a:avLst>
          </a:prstGeom>
          <a:solidFill>
            <a:srgbClr val="EEF3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56632" y="20756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56632" y="25603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Engine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56632" y="3200400"/>
            <a:ext cx="17922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personalized product recommendations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04888" y="1965960"/>
            <a:ext cx="2066544" cy="2286000"/>
          </a:xfrm>
          <a:prstGeom prst="roundRect">
            <a:avLst>
              <a:gd name="adj" fmla="val 3540"/>
            </a:avLst>
          </a:prstGeom>
          <a:solidFill>
            <a:srgbClr val="EEF3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42048" y="20756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42048" y="25603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242048" y="3200400"/>
            <a:ext cx="17922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category, seller, and geographic breakdowns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290304" y="1965960"/>
            <a:ext cx="2066544" cy="2286000"/>
          </a:xfrm>
          <a:prstGeom prst="roundRect">
            <a:avLst>
              <a:gd name="adj" fmla="val 3540"/>
            </a:avLst>
          </a:prstGeom>
          <a:solidFill>
            <a:srgbClr val="EEF3FF"/>
          </a:solidFill>
          <a:ln/>
        </p:spPr>
      </p:sp>
      <p:sp>
        <p:nvSpPr>
          <p:cNvPr id="22" name="Text 20"/>
          <p:cNvSpPr/>
          <p:nvPr/>
        </p:nvSpPr>
        <p:spPr>
          <a:xfrm>
            <a:off x="9427464" y="20756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427464" y="25603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427464" y="3200400"/>
            <a:ext cx="17922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SHAP visualizations and model comparisons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EEF3F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645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/ NumPy · Scikit-learn · XGBoost · LightGBM · SHAP · Imbalanced-learn · Streamlit · Plotly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target: Streamlit Community Cloud (primary) · Docker on AWS ECS/Fargate (alternative)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EEF3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922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92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673352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works well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20640" y="1673352"/>
            <a:ext cx="6309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interpretable, actionable customer segments with silhouette 0.359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523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52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633472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purchase is genuinely rare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20640" y="2633472"/>
            <a:ext cx="6309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0.7% in any 90-day window — an honest, dataset-level finding, not a modeling gap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EEF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7124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593592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perform strongly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20640" y="3593592"/>
            <a:ext cx="6309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94-95% Hit Rate for engaged customers; graceful fallback for cold-start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72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553712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prediction is explainable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120640" y="4553712"/>
            <a:ext cx="6309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traces each score back to the specific features that drove 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EEF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6327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632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5513832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is decision-ready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20640" y="5513832"/>
            <a:ext cx="6309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unifies segmentation, prediction, recommendations, and insight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01168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931920"/>
            <a:ext cx="4389120" cy="438912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E-Commerce Customer Analytics Platform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notebooks, trained models, and the live dashboard are available in the project repository.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2026-08-02T15:45:51Z</dcterms:created>
  <dcterms:modified xsi:type="dcterms:W3CDTF">2026-08-02T15:45:51Z</dcterms:modified>
</cp:coreProperties>
</file>